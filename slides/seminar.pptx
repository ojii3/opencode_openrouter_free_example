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0" y="27432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000" dirty="0">
                <a:solidFill>
                  <a:srgbClr val="21262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_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HANDS-ON SEMINAR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2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</a:t>
            </a:r>
            <a:endParaRPr lang="en-US" sz="5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52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入門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640080" y="37947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“あなたのPCで動くAI” を、</a:t>
            </a:r>
            <a:pPr algn="l" indent="0" marL="0">
              <a:buNone/>
            </a:pPr>
            <a:r>
              <a:rPr lang="en-US" sz="2200" b="1" dirty="0">
                <a:solidFill>
                  <a:srgbClr val="3FB95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無料</a:t>
            </a:r>
            <a:pPr algn="l" indent="0" marL="0">
              <a:buNone/>
            </a:pPr>
            <a:r>
              <a:rPr lang="en-US" sz="22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で体験する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640080" y="4754880"/>
            <a:ext cx="5852160" cy="1371600"/>
          </a:xfrm>
          <a:prstGeom prst="roundRect">
            <a:avLst>
              <a:gd name="adj" fmla="val 4000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9224" y="4764024"/>
            <a:ext cx="5833872" cy="347472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8" name="Shape 6"/>
          <p:cNvSpPr/>
          <p:nvPr/>
        </p:nvSpPr>
        <p:spPr>
          <a:xfrm>
            <a:off x="804672" y="487832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9" name="Shape 7"/>
          <p:cNvSpPr/>
          <p:nvPr/>
        </p:nvSpPr>
        <p:spPr>
          <a:xfrm>
            <a:off x="1005840" y="487832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10" name="Shape 8"/>
          <p:cNvSpPr/>
          <p:nvPr/>
        </p:nvSpPr>
        <p:spPr>
          <a:xfrm>
            <a:off x="1207008" y="487832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1" name="Text 9"/>
          <p:cNvSpPr/>
          <p:nvPr/>
        </p:nvSpPr>
        <p:spPr>
          <a:xfrm>
            <a:off x="1463040" y="4764024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今日やること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96112" y="5212080"/>
            <a:ext cx="5394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opencode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 ToDoアプリを作って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作成中: index.html …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949440" y="57150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情報学科 研究室向け / 所要 約1時間 / お金はかかりません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INTRO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今日のゴール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3383280" cy="3931920"/>
          </a:xfrm>
          <a:prstGeom prst="roundRect">
            <a:avLst>
              <a:gd name="adj" fmla="val 2162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05840" y="2331720"/>
            <a:ext cx="685800" cy="685800"/>
          </a:xfrm>
          <a:prstGeom prst="ellipse">
            <a:avLst/>
          </a:prstGeom>
          <a:solidFill>
            <a:srgbClr val="58A6FF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23317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005840" y="32461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“何か”が分かる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005840" y="3840480"/>
            <a:ext cx="2651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コーディングエージェントとは何か、普段のAIチャットと何が違うのかを理解する。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407408" y="1920240"/>
            <a:ext cx="3383280" cy="3931920"/>
          </a:xfrm>
          <a:prstGeom prst="roundRect">
            <a:avLst>
              <a:gd name="adj" fmla="val 2162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73168" y="2331720"/>
            <a:ext cx="685800" cy="685800"/>
          </a:xfrm>
          <a:prstGeom prst="ellipse">
            <a:avLst/>
          </a:prstGeom>
          <a:solidFill>
            <a:srgbClr val="BC8CFF"/>
          </a:solidFill>
          <a:ln/>
        </p:spPr>
      </p:sp>
      <p:sp>
        <p:nvSpPr>
          <p:cNvPr id="12" name="Text 10"/>
          <p:cNvSpPr/>
          <p:nvPr/>
        </p:nvSpPr>
        <p:spPr>
          <a:xfrm>
            <a:off x="4773168" y="23317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4773168" y="32461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自分のPCで動かす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773168" y="3840480"/>
            <a:ext cx="2651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エージェントを実際にインストールし、AIモデルにつないで起動するところまでやる。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174736" y="1920240"/>
            <a:ext cx="3383280" cy="3931920"/>
          </a:xfrm>
          <a:prstGeom prst="roundRect">
            <a:avLst>
              <a:gd name="adj" fmla="val 2162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540496" y="2331720"/>
            <a:ext cx="685800" cy="685800"/>
          </a:xfrm>
          <a:prstGeom prst="ellipse">
            <a:avLst/>
          </a:prstGeom>
          <a:solidFill>
            <a:srgbClr val="F0883E"/>
          </a:solidFill>
          <a:ln/>
        </p:spPr>
      </p:sp>
      <p:sp>
        <p:nvSpPr>
          <p:cNvPr id="17" name="Text 15"/>
          <p:cNvSpPr/>
          <p:nvPr/>
        </p:nvSpPr>
        <p:spPr>
          <a:xfrm>
            <a:off x="8540496" y="23317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3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8540496" y="32461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アプリを作らせる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8540496" y="3840480"/>
            <a:ext cx="2651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チャットにとどまらず、エージェントに ToDo アプリを作らせてブラウザで動かす。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02 / 26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INTRO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今日の流れ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10908792" cy="987552"/>
          </a:xfrm>
          <a:prstGeom prst="roundRect">
            <a:avLst>
              <a:gd name="adj" fmla="val 740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084832"/>
            <a:ext cx="566928" cy="566928"/>
          </a:xfrm>
          <a:prstGeom prst="ellipse">
            <a:avLst/>
          </a:prstGeom>
          <a:solidFill>
            <a:srgbClr val="58A6FF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0848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64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</a:t>
            </a:r>
            <a:endParaRPr lang="en-US" sz="1364" dirty="0"/>
          </a:p>
        </p:txBody>
      </p:sp>
      <p:sp>
        <p:nvSpPr>
          <p:cNvPr id="8" name="Text 6"/>
          <p:cNvSpPr/>
          <p:nvPr/>
        </p:nvSpPr>
        <p:spPr>
          <a:xfrm>
            <a:off x="1828800" y="2002536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知る：エージェントって何？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828800" y="2404872"/>
            <a:ext cx="6858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座学でイメージをつかむ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994392" y="1874520"/>
            <a:ext cx="12801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〜15分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2980944"/>
            <a:ext cx="10908792" cy="987552"/>
          </a:xfrm>
          <a:prstGeom prst="roundRect">
            <a:avLst>
              <a:gd name="adj" fmla="val 740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960120" y="3191256"/>
            <a:ext cx="566928" cy="566928"/>
          </a:xfrm>
          <a:prstGeom prst="ellipse">
            <a:avLst/>
          </a:prstGeom>
          <a:solidFill>
            <a:srgbClr val="BC8CFF"/>
          </a:solidFill>
          <a:ln/>
        </p:spPr>
      </p:sp>
      <p:sp>
        <p:nvSpPr>
          <p:cNvPr id="13" name="Text 11"/>
          <p:cNvSpPr/>
          <p:nvPr/>
        </p:nvSpPr>
        <p:spPr>
          <a:xfrm>
            <a:off x="960120" y="31912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64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</a:t>
            </a:r>
            <a:endParaRPr lang="en-US" sz="1364" dirty="0"/>
          </a:p>
        </p:txBody>
      </p:sp>
      <p:sp>
        <p:nvSpPr>
          <p:cNvPr id="14" name="Text 12"/>
          <p:cNvSpPr/>
          <p:nvPr/>
        </p:nvSpPr>
        <p:spPr>
          <a:xfrm>
            <a:off x="1828800" y="310896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準備：エージェントを入れる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828800" y="3511296"/>
            <a:ext cx="6858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OpenCode をインストール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994392" y="2980944"/>
            <a:ext cx="12801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C8C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〜15分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0080" y="4087368"/>
            <a:ext cx="10908792" cy="987552"/>
          </a:xfrm>
          <a:prstGeom prst="roundRect">
            <a:avLst>
              <a:gd name="adj" fmla="val 740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960120" y="4297680"/>
            <a:ext cx="566928" cy="5669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9" name="Text 17"/>
          <p:cNvSpPr/>
          <p:nvPr/>
        </p:nvSpPr>
        <p:spPr>
          <a:xfrm>
            <a:off x="960120" y="4297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64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3</a:t>
            </a:r>
            <a:endParaRPr lang="en-US" sz="1364" dirty="0"/>
          </a:p>
        </p:txBody>
      </p:sp>
      <p:sp>
        <p:nvSpPr>
          <p:cNvPr id="20" name="Text 18"/>
          <p:cNvSpPr/>
          <p:nvPr/>
        </p:nvSpPr>
        <p:spPr>
          <a:xfrm>
            <a:off x="1828800" y="4215384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つなぐ：AIモデルに接続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828800" y="4617720"/>
            <a:ext cx="6858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APIキーを作って /connect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994392" y="4087368"/>
            <a:ext cx="12801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〜10分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40080" y="5193792"/>
            <a:ext cx="10908792" cy="987552"/>
          </a:xfrm>
          <a:prstGeom prst="roundRect">
            <a:avLst>
              <a:gd name="adj" fmla="val 740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60120" y="5404104"/>
            <a:ext cx="566928" cy="566928"/>
          </a:xfrm>
          <a:prstGeom prst="ellipse">
            <a:avLst/>
          </a:prstGeom>
          <a:solidFill>
            <a:srgbClr val="F0883E"/>
          </a:solidFill>
          <a:ln/>
        </p:spPr>
      </p:sp>
      <p:sp>
        <p:nvSpPr>
          <p:cNvPr id="25" name="Text 23"/>
          <p:cNvSpPr/>
          <p:nvPr/>
        </p:nvSpPr>
        <p:spPr>
          <a:xfrm>
            <a:off x="960120" y="54041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64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4</a:t>
            </a:r>
            <a:endParaRPr lang="en-US" sz="1364" dirty="0"/>
          </a:p>
        </p:txBody>
      </p:sp>
      <p:sp>
        <p:nvSpPr>
          <p:cNvPr id="26" name="Text 24"/>
          <p:cNvSpPr/>
          <p:nvPr/>
        </p:nvSpPr>
        <p:spPr>
          <a:xfrm>
            <a:off x="1828800" y="5321808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作る：ToDoアプリを生成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828800" y="5724144"/>
            <a:ext cx="6858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複数ファイルに分けて作らせる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9994392" y="5193792"/>
            <a:ext cx="12801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0883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〜20分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03 / 26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INTRO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“コピペ”の、その先へ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ChatGPT や Claude に質問 → 返ってきた答えを</a:t>
            </a:r>
            <a:pPr algn="l" indent="0" marL="0">
              <a:buNone/>
            </a:pPr>
            <a:r>
              <a:rPr lang="en-US" sz="2000" b="1" dirty="0">
                <a:solidFill>
                  <a:srgbClr val="58A6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自分でコピペ</a:t>
            </a:r>
            <a:pPr algn="l" indent="0" marL="0">
              <a:buNone/>
            </a:pPr>
            <a:r>
              <a:rPr lang="en-US" sz="20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40080" y="2697480"/>
            <a:ext cx="5257800" cy="3108960"/>
          </a:xfrm>
          <a:prstGeom prst="roundRect">
            <a:avLst>
              <a:gd name="adj" fmla="val 2353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005840" y="29260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58A6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ふつうの AI チャット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05840" y="3474720"/>
            <a:ext cx="4572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質問すると文章を返してくれる</a:t>
            </a:r>
            <a:endParaRPr lang="en-US" sz="1500" dirty="0"/>
          </a:p>
          <a:p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コードも“テキストとして”もらえる</a:t>
            </a:r>
            <a:endParaRPr lang="en-US" sz="1500" dirty="0"/>
          </a:p>
          <a:p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でも…ファイルに保存するのは自分</a:t>
            </a:r>
            <a:endParaRPr lang="en-US" sz="1500" dirty="0"/>
          </a:p>
          <a:p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実行・テスト・修正も全部自分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89320" y="2697480"/>
            <a:ext cx="822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→</a:t>
            </a:r>
            <a:endParaRPr lang="en-US" sz="4000" dirty="0"/>
          </a:p>
        </p:txBody>
      </p:sp>
      <p:sp>
        <p:nvSpPr>
          <p:cNvPr id="10" name="Shape 8"/>
          <p:cNvSpPr/>
          <p:nvPr/>
        </p:nvSpPr>
        <p:spPr>
          <a:xfrm>
            <a:off x="6812280" y="2697480"/>
            <a:ext cx="4709160" cy="3108960"/>
          </a:xfrm>
          <a:prstGeom prst="roundRect">
            <a:avLst>
              <a:gd name="adj" fmla="val 2353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812280" y="2697480"/>
            <a:ext cx="82296" cy="310896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12" name="Text 10"/>
          <p:cNvSpPr/>
          <p:nvPr/>
        </p:nvSpPr>
        <p:spPr>
          <a:xfrm>
            <a:off x="7178040" y="292608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3FB95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178040" y="3566160"/>
            <a:ext cx="4023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コピペの“その先”を、AIが</a:t>
            </a:r>
            <a:endParaRPr lang="en-US" sz="18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あなたのPCの上で自分でやる。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04 / 26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INTRO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コーディングエージェントとは？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ひとことで言うと —— あなたのPCを操作できるAI。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640080" y="2514600"/>
            <a:ext cx="2606040" cy="1965960"/>
          </a:xfrm>
          <a:prstGeom prst="roundRect">
            <a:avLst>
              <a:gd name="adj" fmla="val 372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32688" y="2807208"/>
            <a:ext cx="457200" cy="45720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8" name="Text 6"/>
          <p:cNvSpPr/>
          <p:nvPr/>
        </p:nvSpPr>
        <p:spPr>
          <a:xfrm>
            <a:off x="932688" y="2807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32688" y="342900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ファイルを読む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32688" y="384048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プロジェクト全体を把握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529584" y="2514600"/>
            <a:ext cx="2606040" cy="1965960"/>
          </a:xfrm>
          <a:prstGeom prst="roundRect">
            <a:avLst>
              <a:gd name="adj" fmla="val 372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822192" y="2807208"/>
            <a:ext cx="457200" cy="45720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3" name="Text 11"/>
          <p:cNvSpPr/>
          <p:nvPr/>
        </p:nvSpPr>
        <p:spPr>
          <a:xfrm>
            <a:off x="3822192" y="2807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822192" y="342900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ファイルを書く・直す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822192" y="384048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コードを実際に保存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19088" y="2514600"/>
            <a:ext cx="2606040" cy="1965960"/>
          </a:xfrm>
          <a:prstGeom prst="roundRect">
            <a:avLst>
              <a:gd name="adj" fmla="val 372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711696" y="2807208"/>
            <a:ext cx="457200" cy="45720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8" name="Text 16"/>
          <p:cNvSpPr/>
          <p:nvPr/>
        </p:nvSpPr>
        <p:spPr>
          <a:xfrm>
            <a:off x="6711696" y="2807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711696" y="342900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コマンドを実行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711696" y="384048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テスト・サーバー起動も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308592" y="2514600"/>
            <a:ext cx="2606040" cy="1965960"/>
          </a:xfrm>
          <a:prstGeom prst="roundRect">
            <a:avLst>
              <a:gd name="adj" fmla="val 372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601200" y="2807208"/>
            <a:ext cx="457200" cy="45720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23" name="Text 21"/>
          <p:cNvSpPr/>
          <p:nvPr/>
        </p:nvSpPr>
        <p:spPr>
          <a:xfrm>
            <a:off x="9601200" y="2807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4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9601200" y="342900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エラーを読んで直す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9601200" y="384048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結果を見て自分で修正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0080" y="489204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Webチャットとの一番の違いは </a:t>
            </a:r>
            <a:pPr algn="l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“手元のPCを直接動かせる”</a:t>
            </a:r>
            <a:pPr algn="l" indent="0" marL="0">
              <a:buNone/>
            </a:pPr>
            <a:r>
              <a:rPr lang="en-US" sz="16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こと。だから実際にファイルができて、その場で動かせる。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05 / 26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INTRO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代表的なエージェント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3383280" cy="2788920"/>
          </a:xfrm>
          <a:prstGeom prst="roundRect">
            <a:avLst>
              <a:gd name="adj" fmla="val 2623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05840" y="21945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0883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Claude Code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27432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Anthropic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05840" y="3200400"/>
            <a:ext cx="2651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高性能で人気。CLIから本格的な開発。基本は有料。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407408" y="1828800"/>
            <a:ext cx="3383280" cy="2788920"/>
          </a:xfrm>
          <a:prstGeom prst="roundRect">
            <a:avLst>
              <a:gd name="adj" fmla="val 2623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73168" y="21945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58A6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Codex CLI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773168" y="27432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OpenAI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773168" y="3200400"/>
            <a:ext cx="2651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OpenAI のCLIエージェント。ChatGPTの延長で使える。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74736" y="1828800"/>
            <a:ext cx="3383280" cy="2788920"/>
          </a:xfrm>
          <a:prstGeom prst="roundRect">
            <a:avLst>
              <a:gd name="adj" fmla="val 2623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174736" y="1828800"/>
            <a:ext cx="3383280" cy="82296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15" name="Text 13"/>
          <p:cNvSpPr/>
          <p:nvPr/>
        </p:nvSpPr>
        <p:spPr>
          <a:xfrm>
            <a:off x="8540496" y="21945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3FB95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OpenCode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8540496" y="27432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オープンソース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540496" y="3200400"/>
            <a:ext cx="2651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好きなモデルに接続できる。無料モデルでも動く。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" y="4846320"/>
            <a:ext cx="10908792" cy="960120"/>
          </a:xfrm>
          <a:prstGeom prst="roundRect">
            <a:avLst>
              <a:gd name="adj" fmla="val 7619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40080" y="4846320"/>
            <a:ext cx="82296" cy="96012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" y="4846320"/>
            <a:ext cx="102687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どれも“ターミナルで動くエージェント”で、使う感覚はほぼ同じ。</a:t>
            </a:r>
            <a:pPr algn="l" indent="0" marL="0">
              <a:buNone/>
            </a:pPr>
            <a:r>
              <a:rPr lang="en-US" sz="15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今日は誰でも無料で試せる OpenCode を使います。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06 / 26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INTRO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なぜ “ターミナル” で動くの？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5486400" cy="3657600"/>
          </a:xfrm>
          <a:prstGeom prst="roundRect">
            <a:avLst>
              <a:gd name="adj" fmla="val 2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51560" y="224028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ターミナル = PCに文字で命令する場所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51560" y="2926080"/>
            <a:ext cx="4754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ファイル操作もコマンド実行も、ここから全部できる</a:t>
            </a:r>
            <a:endParaRPr lang="en-US" sz="145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エージェントの“手”として一番都合がいい</a:t>
            </a:r>
            <a:endParaRPr lang="en-US" sz="145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ボタンを探すより速く・自動で動かせる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92240" y="1920240"/>
            <a:ext cx="5029200" cy="3657600"/>
          </a:xfrm>
          <a:prstGeom prst="roundRect">
            <a:avLst>
              <a:gd name="adj" fmla="val 1500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501384" y="1929384"/>
            <a:ext cx="5010912" cy="347472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10" name="Shape 8"/>
          <p:cNvSpPr/>
          <p:nvPr/>
        </p:nvSpPr>
        <p:spPr>
          <a:xfrm>
            <a:off x="6656832" y="204368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11" name="Shape 9"/>
          <p:cNvSpPr/>
          <p:nvPr/>
        </p:nvSpPr>
        <p:spPr>
          <a:xfrm>
            <a:off x="6858000" y="204368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12" name="Shape 10"/>
          <p:cNvSpPr/>
          <p:nvPr/>
        </p:nvSpPr>
        <p:spPr>
          <a:xfrm>
            <a:off x="7059168" y="204368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0" y="1929384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こんな世界です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748272" y="2377440"/>
            <a:ext cx="4572000" cy="3090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ls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index.html  README.md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python3 -m http.server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→ localhost:8000 で確認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opencode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 ToDoアプリを作って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作成中: src/app.js …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07 / 26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INTRO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今日のツール：OpenCode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612648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965960"/>
            <a:ext cx="82296" cy="114300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2112264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FB95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オープンソース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05840" y="2532888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無料で使える。ターミナルで動くエージェント。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3273552"/>
            <a:ext cx="612648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3273552"/>
            <a:ext cx="82296" cy="1143000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3419856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58A6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モデルが自由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005840" y="384048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OpenAI / Anthropic / OpenRouter など好きなモデルに接続。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4581144"/>
            <a:ext cx="612648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4581144"/>
            <a:ext cx="82296" cy="1143000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4727448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C8C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なぜ今日これ？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05840" y="5148072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誰でも無料で動かせるから。操作の感覚は他ツールと同じ。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7132320" y="1965960"/>
            <a:ext cx="4389120" cy="3904488"/>
          </a:xfrm>
          <a:prstGeom prst="roundRect">
            <a:avLst>
              <a:gd name="adj" fmla="val 1405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141464" y="1975104"/>
            <a:ext cx="4370832" cy="347472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19" name="Shape 17"/>
          <p:cNvSpPr/>
          <p:nvPr/>
        </p:nvSpPr>
        <p:spPr>
          <a:xfrm>
            <a:off x="7296912" y="208940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20" name="Shape 18"/>
          <p:cNvSpPr/>
          <p:nvPr/>
        </p:nvSpPr>
        <p:spPr>
          <a:xfrm>
            <a:off x="7498080" y="208940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21" name="Shape 19"/>
          <p:cNvSpPr/>
          <p:nvPr/>
        </p:nvSpPr>
        <p:spPr>
          <a:xfrm>
            <a:off x="7699248" y="208940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975104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TUI イメージ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388352" y="2423160"/>
            <a:ext cx="393192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opencode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OpenCode を起動しました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───────────────────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&gt; _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ここに指示を書く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───────────────────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/connect でモデルに接続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08 / 26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INTRO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なぜ OpenRouter？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5303520" cy="1554480"/>
          </a:xfrm>
          <a:prstGeom prst="roundRect">
            <a:avLst>
              <a:gd name="adj" fmla="val 470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212848"/>
            <a:ext cx="411480" cy="41148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2128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554480" y="217627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1つのキーで多数のモデル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554480" y="2633472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OpenRouter のAPIキー1本で、いろんなモデルを切り替えて使える。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45352" y="1920240"/>
            <a:ext cx="5303520" cy="1554480"/>
          </a:xfrm>
          <a:prstGeom prst="roundRect">
            <a:avLst>
              <a:gd name="adj" fmla="val 470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65392" y="2212848"/>
            <a:ext cx="411480" cy="41148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2" name="Text 10"/>
          <p:cNvSpPr/>
          <p:nvPr/>
        </p:nvSpPr>
        <p:spPr>
          <a:xfrm>
            <a:off x="6565392" y="22128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159752" y="217627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無料モデルがある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7159752" y="2633472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今日はここを使う。料金は input / output ともに $0。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3703320"/>
            <a:ext cx="5303520" cy="1554480"/>
          </a:xfrm>
          <a:prstGeom prst="roundRect">
            <a:avLst>
              <a:gd name="adj" fmla="val 470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960120" y="3995928"/>
            <a:ext cx="411480" cy="41148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7" name="Text 15"/>
          <p:cNvSpPr/>
          <p:nvPr/>
        </p:nvSpPr>
        <p:spPr>
          <a:xfrm>
            <a:off x="960120" y="399592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554480" y="395935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普段のquotaを使わない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1554480" y="4416552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ChatGPT等の課金枠を消費しないので、気兼ねなく試せる。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245352" y="3703320"/>
            <a:ext cx="5303520" cy="1554480"/>
          </a:xfrm>
          <a:prstGeom prst="roundRect">
            <a:avLst>
              <a:gd name="adj" fmla="val 470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565392" y="3995928"/>
            <a:ext cx="411480" cy="41148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22" name="Text 20"/>
          <p:cNvSpPr/>
          <p:nvPr/>
        </p:nvSpPr>
        <p:spPr>
          <a:xfrm>
            <a:off x="6565392" y="399592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159752" y="395935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Free Models Router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7159752" y="4416552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空いている無料モデルへ自動でつないでくれる。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09 / 26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INTRO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今日やること（全体図）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08076" y="2286000"/>
            <a:ext cx="3108960" cy="2560320"/>
          </a:xfrm>
          <a:prstGeom prst="roundRect">
            <a:avLst>
              <a:gd name="adj" fmla="val 2857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08076" y="2286000"/>
            <a:ext cx="3108960" cy="91440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7" name="Shape 5"/>
          <p:cNvSpPr/>
          <p:nvPr/>
        </p:nvSpPr>
        <p:spPr>
          <a:xfrm>
            <a:off x="1773936" y="2743200"/>
            <a:ext cx="777240" cy="777240"/>
          </a:xfrm>
          <a:prstGeom prst="ellipse">
            <a:avLst/>
          </a:prstGeom>
          <a:solidFill>
            <a:srgbClr val="BC8CFF"/>
          </a:solidFill>
          <a:ln/>
        </p:spPr>
      </p:sp>
      <p:sp>
        <p:nvSpPr>
          <p:cNvPr id="8" name="Text 6"/>
          <p:cNvSpPr/>
          <p:nvPr/>
        </p:nvSpPr>
        <p:spPr>
          <a:xfrm>
            <a:off x="1773936" y="27432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</a:t>
            </a:r>
            <a:endParaRPr lang="en-US" sz="1870" dirty="0"/>
          </a:p>
        </p:txBody>
      </p:sp>
      <p:sp>
        <p:nvSpPr>
          <p:cNvPr id="9" name="Text 7"/>
          <p:cNvSpPr/>
          <p:nvPr/>
        </p:nvSpPr>
        <p:spPr>
          <a:xfrm>
            <a:off x="608076" y="36576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入れる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08076" y="41605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OpenCode を</a:t>
            </a:r>
            <a:endParaRPr lang="en-US" sz="1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インストール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735324" y="2286000"/>
            <a:ext cx="78638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→</a:t>
            </a:r>
            <a:endParaRPr lang="en-US" sz="3400" dirty="0"/>
          </a:p>
        </p:txBody>
      </p:sp>
      <p:sp>
        <p:nvSpPr>
          <p:cNvPr id="12" name="Shape 10"/>
          <p:cNvSpPr/>
          <p:nvPr/>
        </p:nvSpPr>
        <p:spPr>
          <a:xfrm>
            <a:off x="4539996" y="2286000"/>
            <a:ext cx="3108960" cy="2560320"/>
          </a:xfrm>
          <a:prstGeom prst="roundRect">
            <a:avLst>
              <a:gd name="adj" fmla="val 2857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39996" y="2286000"/>
            <a:ext cx="3108960" cy="9144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14" name="Shape 12"/>
          <p:cNvSpPr/>
          <p:nvPr/>
        </p:nvSpPr>
        <p:spPr>
          <a:xfrm>
            <a:off x="5705856" y="2743200"/>
            <a:ext cx="777240" cy="77724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5" name="Text 13"/>
          <p:cNvSpPr/>
          <p:nvPr/>
        </p:nvSpPr>
        <p:spPr>
          <a:xfrm>
            <a:off x="5705856" y="27432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</a:t>
            </a:r>
            <a:endParaRPr lang="en-US" sz="1870" dirty="0"/>
          </a:p>
        </p:txBody>
      </p:sp>
      <p:sp>
        <p:nvSpPr>
          <p:cNvPr id="16" name="Text 14"/>
          <p:cNvSpPr/>
          <p:nvPr/>
        </p:nvSpPr>
        <p:spPr>
          <a:xfrm>
            <a:off x="4539996" y="36576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つなぐ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539996" y="41605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AIモデルに</a:t>
            </a:r>
            <a:endParaRPr lang="en-US" sz="1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/connect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667244" y="2286000"/>
            <a:ext cx="78638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→</a:t>
            </a:r>
            <a:endParaRPr lang="en-US" sz="3400" dirty="0"/>
          </a:p>
        </p:txBody>
      </p:sp>
      <p:sp>
        <p:nvSpPr>
          <p:cNvPr id="19" name="Shape 17"/>
          <p:cNvSpPr/>
          <p:nvPr/>
        </p:nvSpPr>
        <p:spPr>
          <a:xfrm>
            <a:off x="8471916" y="2286000"/>
            <a:ext cx="3108960" cy="2560320"/>
          </a:xfrm>
          <a:prstGeom prst="roundRect">
            <a:avLst>
              <a:gd name="adj" fmla="val 2857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471916" y="2286000"/>
            <a:ext cx="3108960" cy="9144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21" name="Shape 19"/>
          <p:cNvSpPr/>
          <p:nvPr/>
        </p:nvSpPr>
        <p:spPr>
          <a:xfrm>
            <a:off x="9637776" y="2743200"/>
            <a:ext cx="777240" cy="777240"/>
          </a:xfrm>
          <a:prstGeom prst="ellipse">
            <a:avLst/>
          </a:prstGeom>
          <a:solidFill>
            <a:srgbClr val="F0883E"/>
          </a:solidFill>
          <a:ln/>
        </p:spPr>
      </p:sp>
      <p:sp>
        <p:nvSpPr>
          <p:cNvPr id="22" name="Text 20"/>
          <p:cNvSpPr/>
          <p:nvPr/>
        </p:nvSpPr>
        <p:spPr>
          <a:xfrm>
            <a:off x="9637776" y="27432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3</a:t>
            </a:r>
            <a:endParaRPr lang="en-US" sz="1870" dirty="0"/>
          </a:p>
        </p:txBody>
      </p:sp>
      <p:sp>
        <p:nvSpPr>
          <p:cNvPr id="23" name="Text 21"/>
          <p:cNvSpPr/>
          <p:nvPr/>
        </p:nvSpPr>
        <p:spPr>
          <a:xfrm>
            <a:off x="8471916" y="36576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作る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8471916" y="41605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ToDoアプリを</a:t>
            </a:r>
            <a:endParaRPr lang="en-US" sz="1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複数ファイルで生成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0080" y="530352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この3ステップを、これから順番にやっていきます。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10 / 26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BC8C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SETUP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BC8C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STEP 0 ── ターミナルを開く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5303520" cy="1828800"/>
          </a:xfrm>
          <a:prstGeom prst="roundRect">
            <a:avLst>
              <a:gd name="adj" fmla="val 4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05840" y="21488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C8C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macOS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05840" y="265176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「ターミナル.app」を開く</a:t>
            </a:r>
            <a:endParaRPr lang="en-US" sz="1450" dirty="0"/>
          </a:p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Spotlight で “ターミナル” 検索でもOK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17920" y="1920240"/>
            <a:ext cx="5303520" cy="1828800"/>
          </a:xfrm>
          <a:prstGeom prst="roundRect">
            <a:avLst>
              <a:gd name="adj" fmla="val 4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83680" y="21488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58A6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Windows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583680" y="265176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WSL の Ubuntu ターミナルを開く</a:t>
            </a:r>
            <a:endParaRPr lang="en-US" sz="1450" dirty="0"/>
          </a:p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F0883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PowerShell ではない点に注意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640080" y="3977640"/>
            <a:ext cx="10908792" cy="868680"/>
          </a:xfrm>
          <a:prstGeom prst="roundRect">
            <a:avLst>
              <a:gd name="adj" fmla="val 8421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" y="3977640"/>
            <a:ext cx="82296" cy="86868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3977640"/>
            <a:ext cx="102687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0883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⚠ Windows の人へ：</a:t>
            </a:r>
            <a:pPr algn="l" indent="0" marL="0">
              <a:buNone/>
            </a:pPr>
            <a:r>
              <a:rPr lang="en-US" sz="15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この先のコマンドはすべて Ubuntu のターミナル内で実行します。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40080" y="5074920"/>
            <a:ext cx="5029200" cy="868680"/>
          </a:xfrm>
          <a:prstGeom prst="roundRect">
            <a:avLst>
              <a:gd name="adj" fmla="val 6316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9224" y="5084064"/>
            <a:ext cx="5010912" cy="347472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16" name="Shape 14"/>
          <p:cNvSpPr/>
          <p:nvPr/>
        </p:nvSpPr>
        <p:spPr>
          <a:xfrm>
            <a:off x="804672" y="519836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17" name="Shape 15"/>
          <p:cNvSpPr/>
          <p:nvPr/>
        </p:nvSpPr>
        <p:spPr>
          <a:xfrm>
            <a:off x="1005840" y="519836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18" name="Shape 16"/>
          <p:cNvSpPr/>
          <p:nvPr/>
        </p:nvSpPr>
        <p:spPr>
          <a:xfrm>
            <a:off x="1207008" y="519836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9" name="Text 17"/>
          <p:cNvSpPr/>
          <p:nvPr/>
        </p:nvSpPr>
        <p:spPr>
          <a:xfrm>
            <a:off x="1463040" y="5084064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動作確認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96112" y="5532120"/>
            <a:ext cx="4572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pwd   # 今どこにいるか確認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11 / 26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BC8C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SETUP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BC8C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STEP 1 ── OpenCode を入れる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5303520" cy="3291840"/>
          </a:xfrm>
          <a:prstGeom prst="roundRect">
            <a:avLst>
              <a:gd name="adj" fmla="val 1667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9224" y="1929384"/>
            <a:ext cx="5285232" cy="347472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7" name="Shape 5"/>
          <p:cNvSpPr/>
          <p:nvPr/>
        </p:nvSpPr>
        <p:spPr>
          <a:xfrm>
            <a:off x="804672" y="204368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8" name="Shape 6"/>
          <p:cNvSpPr/>
          <p:nvPr/>
        </p:nvSpPr>
        <p:spPr>
          <a:xfrm>
            <a:off x="1005840" y="204368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9" name="Shape 7"/>
          <p:cNvSpPr/>
          <p:nvPr/>
        </p:nvSpPr>
        <p:spPr>
          <a:xfrm>
            <a:off x="1207008" y="204368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0" name="Text 8"/>
          <p:cNvSpPr/>
          <p:nvPr/>
        </p:nvSpPr>
        <p:spPr>
          <a:xfrm>
            <a:off x="1463040" y="1929384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macOS + Homebrew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96112" y="2377440"/>
            <a:ext cx="4846320" cy="2724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Homebrew を更新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brew update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OpenCode を入れる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brew install \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anomalyco/tap/opencode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opencode --version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17920" y="1920240"/>
            <a:ext cx="5303520" cy="3291840"/>
          </a:xfrm>
          <a:prstGeom prst="roundRect">
            <a:avLst>
              <a:gd name="adj" fmla="val 1667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227064" y="1929384"/>
            <a:ext cx="5285232" cy="347472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14" name="Shape 12"/>
          <p:cNvSpPr/>
          <p:nvPr/>
        </p:nvSpPr>
        <p:spPr>
          <a:xfrm>
            <a:off x="6382512" y="204368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15" name="Shape 13"/>
          <p:cNvSpPr/>
          <p:nvPr/>
        </p:nvSpPr>
        <p:spPr>
          <a:xfrm>
            <a:off x="6583680" y="204368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16" name="Shape 14"/>
          <p:cNvSpPr/>
          <p:nvPr/>
        </p:nvSpPr>
        <p:spPr>
          <a:xfrm>
            <a:off x="6784848" y="204368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0" y="1929384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Windows (WSL Ubuntu)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73952" y="2377440"/>
            <a:ext cx="4846320" cy="2724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必要なツール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sudo apt update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sudo apt install -y \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curl ca-certificates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OpenCode を入れる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curl -fsSL \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https://opencode.ai/install | bash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54406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インストール手順だけはOSで違いますが、この先は Mac も WSL も共通です。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12 / 26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CONNECT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STEP 2 ── OpenRouter API キーを作る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6400800" cy="841248"/>
          </a:xfrm>
          <a:prstGeom prst="roundRect">
            <a:avLst>
              <a:gd name="adj" fmla="val 869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130552"/>
            <a:ext cx="512064" cy="512064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13055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2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</a:t>
            </a:r>
            <a:endParaRPr lang="en-US" sz="1232" dirty="0"/>
          </a:p>
        </p:txBody>
      </p:sp>
      <p:sp>
        <p:nvSpPr>
          <p:cNvPr id="8" name="Text 6"/>
          <p:cNvSpPr/>
          <p:nvPr/>
        </p:nvSpPr>
        <p:spPr>
          <a:xfrm>
            <a:off x="1691640" y="20574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サイトを開く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691640" y="2404872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openrouter.ai/keys にアクセス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2916936"/>
            <a:ext cx="6400800" cy="841248"/>
          </a:xfrm>
          <a:prstGeom prst="roundRect">
            <a:avLst>
              <a:gd name="adj" fmla="val 869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14400" y="3081528"/>
            <a:ext cx="512064" cy="512064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30815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2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</a:t>
            </a:r>
            <a:endParaRPr lang="en-US" sz="1232" dirty="0"/>
          </a:p>
        </p:txBody>
      </p:sp>
      <p:sp>
        <p:nvSpPr>
          <p:cNvPr id="13" name="Text 11"/>
          <p:cNvSpPr/>
          <p:nvPr/>
        </p:nvSpPr>
        <p:spPr>
          <a:xfrm>
            <a:off x="1691640" y="3008376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サインイン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3355848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OpenRouter アカウントでログイン（無料）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67912"/>
            <a:ext cx="6400800" cy="841248"/>
          </a:xfrm>
          <a:prstGeom prst="roundRect">
            <a:avLst>
              <a:gd name="adj" fmla="val 869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914400" y="4032504"/>
            <a:ext cx="512064" cy="512064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403250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2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3</a:t>
            </a:r>
            <a:endParaRPr lang="en-US" sz="1232" dirty="0"/>
          </a:p>
        </p:txBody>
      </p:sp>
      <p:sp>
        <p:nvSpPr>
          <p:cNvPr id="18" name="Text 16"/>
          <p:cNvSpPr/>
          <p:nvPr/>
        </p:nvSpPr>
        <p:spPr>
          <a:xfrm>
            <a:off x="1691640" y="395935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キーを作成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4306824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「Create Key」を押す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" y="4818888"/>
            <a:ext cx="6400800" cy="841248"/>
          </a:xfrm>
          <a:prstGeom prst="roundRect">
            <a:avLst>
              <a:gd name="adj" fmla="val 869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14400" y="4983480"/>
            <a:ext cx="512064" cy="512064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49834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2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4</a:t>
            </a:r>
            <a:endParaRPr lang="en-US" sz="1232" dirty="0"/>
          </a:p>
        </p:txBody>
      </p:sp>
      <p:sp>
        <p:nvSpPr>
          <p:cNvPr id="23" name="Text 21"/>
          <p:cNvSpPr/>
          <p:nvPr/>
        </p:nvSpPr>
        <p:spPr>
          <a:xfrm>
            <a:off x="1691640" y="491032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控える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5257800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sk-or-… で始まるキーをコピーしておく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7360920" y="1965960"/>
            <a:ext cx="4160520" cy="3822192"/>
          </a:xfrm>
          <a:prstGeom prst="roundRect">
            <a:avLst>
              <a:gd name="adj" fmla="val 1914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360920" y="1965960"/>
            <a:ext cx="82296" cy="3822192"/>
          </a:xfrm>
          <a:prstGeom prst="rect">
            <a:avLst/>
          </a:prstGeom>
          <a:solidFill>
            <a:srgbClr val="FF7B72"/>
          </a:solidFill>
          <a:ln/>
        </p:spPr>
      </p:sp>
      <p:sp>
        <p:nvSpPr>
          <p:cNvPr id="27" name="Text 25"/>
          <p:cNvSpPr/>
          <p:nvPr/>
        </p:nvSpPr>
        <p:spPr>
          <a:xfrm>
            <a:off x="7726680" y="22402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7B7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⚠ キーの取り扱い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7726680" y="2834640"/>
            <a:ext cx="3566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パスワードと同じ秘密情報</a:t>
            </a:r>
            <a:endParaRPr lang="en-US" sz="140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ファイルやチャットに貼らない</a:t>
            </a:r>
            <a:endParaRPr lang="en-US" sz="140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人に見せない</a:t>
            </a:r>
            <a:endParaRPr lang="en-US" sz="140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OpenCode が安全に保存する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13 / 26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CONNECT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STEP 3 ── フォルダを作って起動する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作業用のフォルダを作り、その中で OpenCode を起動します。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14600"/>
            <a:ext cx="5852160" cy="2560320"/>
          </a:xfrm>
          <a:prstGeom prst="roundRect">
            <a:avLst>
              <a:gd name="adj" fmla="val 2143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9224" y="2523744"/>
            <a:ext cx="5833872" cy="347472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8" name="Shape 6"/>
          <p:cNvSpPr/>
          <p:nvPr/>
        </p:nvSpPr>
        <p:spPr>
          <a:xfrm>
            <a:off x="804672" y="263804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9" name="Shape 7"/>
          <p:cNvSpPr/>
          <p:nvPr/>
        </p:nvSpPr>
        <p:spPr>
          <a:xfrm>
            <a:off x="1005840" y="263804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10" name="Shape 8"/>
          <p:cNvSpPr/>
          <p:nvPr/>
        </p:nvSpPr>
        <p:spPr>
          <a:xfrm>
            <a:off x="1207008" y="263804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1" name="Text 9"/>
          <p:cNvSpPr/>
          <p:nvPr/>
        </p:nvSpPr>
        <p:spPr>
          <a:xfrm>
            <a:off x="1463040" y="2523744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フォルダ作成 → 起動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96112" y="2971800"/>
            <a:ext cx="5394960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作業フォルダを作って入る</a:t>
            </a:r>
            <a:endParaRPr lang="en-US" sz="14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mkdir todo-app</a:t>
            </a:r>
            <a:endParaRPr lang="en-US" sz="14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cd todo-app</a:t>
            </a:r>
            <a:endParaRPr lang="en-US" sz="14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endParaRPr lang="en-US" sz="14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OpenCode を起動</a:t>
            </a:r>
            <a:endParaRPr lang="en-US" sz="14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opencode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675120" y="2514600"/>
            <a:ext cx="4846320" cy="2560320"/>
          </a:xfrm>
          <a:prstGeom prst="roundRect">
            <a:avLst>
              <a:gd name="adj" fmla="val 2857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675120" y="2514600"/>
            <a:ext cx="82296" cy="256032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15" name="Text 13"/>
          <p:cNvSpPr/>
          <p:nvPr/>
        </p:nvSpPr>
        <p:spPr>
          <a:xfrm>
            <a:off x="7040880" y="27889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FB95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フォルダ名は自由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040880" y="3291840"/>
            <a:ext cx="4206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好きな名前でOK（例: todo-app）。これから作るファイルは、このフォルダの中にできていきます。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14 / 26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CONNECT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STEP 4 ── /connect で接続する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603504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32688" y="2354580"/>
            <a:ext cx="548640" cy="54864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7" name="Text 5"/>
          <p:cNvSpPr/>
          <p:nvPr/>
        </p:nvSpPr>
        <p:spPr>
          <a:xfrm>
            <a:off x="932688" y="23545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</a:t>
            </a:r>
            <a:endParaRPr lang="en-US" sz="1320" dirty="0"/>
          </a:p>
        </p:txBody>
      </p:sp>
      <p:sp>
        <p:nvSpPr>
          <p:cNvPr id="8" name="Text 6"/>
          <p:cNvSpPr/>
          <p:nvPr/>
        </p:nvSpPr>
        <p:spPr>
          <a:xfrm>
            <a:off x="1737360" y="225856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/connect と入力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737360" y="266090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TUIの入力欄に打って Enter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383280"/>
            <a:ext cx="603504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32688" y="3680460"/>
            <a:ext cx="548640" cy="54864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2" name="Text 10"/>
          <p:cNvSpPr/>
          <p:nvPr/>
        </p:nvSpPr>
        <p:spPr>
          <a:xfrm>
            <a:off x="932688" y="36804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</a:t>
            </a:r>
            <a:endParaRPr lang="en-US" sz="1320" dirty="0"/>
          </a:p>
        </p:txBody>
      </p:sp>
      <p:sp>
        <p:nvSpPr>
          <p:cNvPr id="13" name="Text 11"/>
          <p:cNvSpPr/>
          <p:nvPr/>
        </p:nvSpPr>
        <p:spPr>
          <a:xfrm>
            <a:off x="1737360" y="358444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OpenRouter を選ぶ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737360" y="398678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provider 一覧から選択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4709160"/>
            <a:ext cx="603504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932688" y="5006340"/>
            <a:ext cx="548640" cy="54864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7" name="Text 15"/>
          <p:cNvSpPr/>
          <p:nvPr/>
        </p:nvSpPr>
        <p:spPr>
          <a:xfrm>
            <a:off x="932688" y="50063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3</a:t>
            </a:r>
            <a:endParaRPr lang="en-US" sz="1320" dirty="0"/>
          </a:p>
        </p:txBody>
      </p:sp>
      <p:sp>
        <p:nvSpPr>
          <p:cNvPr id="18" name="Text 16"/>
          <p:cNvSpPr/>
          <p:nvPr/>
        </p:nvSpPr>
        <p:spPr>
          <a:xfrm>
            <a:off x="1737360" y="491032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API キーを貼る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737360" y="531266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STEP 2 で控えたキーを貼り付け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040880" y="2057400"/>
            <a:ext cx="4480560" cy="3840480"/>
          </a:xfrm>
          <a:prstGeom prst="roundRect">
            <a:avLst>
              <a:gd name="adj" fmla="val 1429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050024" y="2066544"/>
            <a:ext cx="4462272" cy="347472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22" name="Shape 20"/>
          <p:cNvSpPr/>
          <p:nvPr/>
        </p:nvSpPr>
        <p:spPr>
          <a:xfrm>
            <a:off x="7205472" y="218084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23" name="Shape 21"/>
          <p:cNvSpPr/>
          <p:nvPr/>
        </p:nvSpPr>
        <p:spPr>
          <a:xfrm>
            <a:off x="7406640" y="218084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24" name="Shape 22"/>
          <p:cNvSpPr/>
          <p:nvPr/>
        </p:nvSpPr>
        <p:spPr>
          <a:xfrm>
            <a:off x="7607808" y="218084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25" name="Text 23"/>
          <p:cNvSpPr/>
          <p:nvPr/>
        </p:nvSpPr>
        <p:spPr>
          <a:xfrm>
            <a:off x="7863840" y="2066544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入力イメージ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296912" y="2514600"/>
            <a:ext cx="4023360" cy="3273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 /connect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? Provider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&gt; OpenRouter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? API Key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&gt; sk-or-••••••••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✓ 接続しました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15 / 26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CONNECT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STEP 5 ── Free Models Router を選ぶ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モデル選択画面で </a:t>
            </a:r>
            <a:pPr algn="l" indent="0" marL="0">
              <a:buNone/>
            </a:pPr>
            <a:r>
              <a:rPr lang="en-US" sz="1650" b="1" dirty="0">
                <a:solidFill>
                  <a:srgbClr val="3FB95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Free Models Router</a:t>
            </a:r>
            <a:pPr algn="l" indent="0" marL="0">
              <a:buNone/>
            </a:pPr>
            <a:r>
              <a:rPr lang="en-US" sz="16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を選びます。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640080" y="2468880"/>
            <a:ext cx="6583680" cy="1920240"/>
          </a:xfrm>
          <a:prstGeom prst="roundRect">
            <a:avLst>
              <a:gd name="adj" fmla="val 2857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9224" y="2478024"/>
            <a:ext cx="6565392" cy="347472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8" name="Shape 6"/>
          <p:cNvSpPr/>
          <p:nvPr/>
        </p:nvSpPr>
        <p:spPr>
          <a:xfrm>
            <a:off x="804672" y="259232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9" name="Shape 7"/>
          <p:cNvSpPr/>
          <p:nvPr/>
        </p:nvSpPr>
        <p:spPr>
          <a:xfrm>
            <a:off x="1005840" y="259232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10" name="Shape 8"/>
          <p:cNvSpPr/>
          <p:nvPr/>
        </p:nvSpPr>
        <p:spPr>
          <a:xfrm>
            <a:off x="1207008" y="259232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1" name="Text 9"/>
          <p:cNvSpPr/>
          <p:nvPr/>
        </p:nvSpPr>
        <p:spPr>
          <a:xfrm>
            <a:off x="1463040" y="2478024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モデルを探す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96112" y="2926080"/>
            <a:ext cx="6126480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見つからなければ検索欄に：</a:t>
            </a:r>
            <a:endParaRPr lang="en-US" sz="14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Free Models Router</a:t>
            </a:r>
            <a:endParaRPr lang="en-US" sz="14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と入力して絞り込む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4663440"/>
            <a:ext cx="10908792" cy="1280160"/>
          </a:xfrm>
          <a:prstGeom prst="roundRect">
            <a:avLst>
              <a:gd name="adj" fmla="val 5714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4663440"/>
            <a:ext cx="82296" cy="128016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48463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動作確認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005840" y="5303520"/>
            <a:ext cx="10268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Reply with OK only.</a:t>
            </a:r>
            <a:pPr algn="l" indent="0" marL="0">
              <a:buNone/>
            </a:pPr>
            <a:r>
              <a:rPr lang="en-US" sz="15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と送って </a:t>
            </a:r>
            <a:pPr algn="l" indent="0" marL="0">
              <a:buNone/>
            </a:pPr>
            <a:r>
              <a:rPr lang="en-US" sz="1500" b="1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OK</a:t>
            </a:r>
            <a:pPr algn="l" indent="0" marL="0">
              <a:buNone/>
            </a:pPr>
            <a:r>
              <a:rPr lang="en-US" sz="15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が返れば、接続成功です 🎉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16 / 26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0883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BUILD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0883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つかいかた（基本）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594360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965960"/>
            <a:ext cx="82296" cy="114300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2112264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指示を書いて Enter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05840" y="2551176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やってほしいことを日本語で書いて送るだけ。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3273552"/>
            <a:ext cx="594360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3273552"/>
            <a:ext cx="82296" cy="114300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3419856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様子が表示される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05840" y="3858768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ファイルを作る・編集する過程がそのまま見える。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4581144"/>
            <a:ext cx="594360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4581144"/>
            <a:ext cx="82296" cy="114300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4727448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確認しながら進む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005840" y="51663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変更内容を見て、続けて指示を重ねていける。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949440" y="1965960"/>
            <a:ext cx="4572000" cy="3904488"/>
          </a:xfrm>
          <a:prstGeom prst="roundRect">
            <a:avLst>
              <a:gd name="adj" fmla="val 1405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958584" y="1975104"/>
            <a:ext cx="4553712" cy="347472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19" name="Shape 17"/>
          <p:cNvSpPr/>
          <p:nvPr/>
        </p:nvSpPr>
        <p:spPr>
          <a:xfrm>
            <a:off x="7114032" y="208940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20" name="Shape 18"/>
          <p:cNvSpPr/>
          <p:nvPr/>
        </p:nvSpPr>
        <p:spPr>
          <a:xfrm>
            <a:off x="7315200" y="208940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21" name="Shape 19"/>
          <p:cNvSpPr/>
          <p:nvPr/>
        </p:nvSpPr>
        <p:spPr>
          <a:xfrm>
            <a:off x="7516368" y="208940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0" y="1975104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やりとりの例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205472" y="2423160"/>
            <a:ext cx="411480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 ミニToDoアプリを作って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● 作成中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+ index.html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+ style.css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+ script.js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✓ ブラウザで表示確認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✓ 追加・完了・削除を確認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17 / 26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0883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BUILD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0883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STEP 6 ── 作るものを決める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今日は、ブラウザだけで動く ToDo ミニアプリを作ります。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423160"/>
            <a:ext cx="4572000" cy="749808"/>
          </a:xfrm>
          <a:prstGeom prst="roundRect">
            <a:avLst>
              <a:gd name="adj" fmla="val 975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423160"/>
            <a:ext cx="82296" cy="749808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25146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追加・完了・削除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05840" y="286207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基本操作がその場で試せる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3300984"/>
            <a:ext cx="4572000" cy="749808"/>
          </a:xfrm>
          <a:prstGeom prst="roundRect">
            <a:avLst>
              <a:gd name="adj" fmla="val 975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" y="3300984"/>
            <a:ext cx="82296" cy="749808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" y="3392424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件数が見える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05840" y="3739896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残り件数と完了件数を表示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178808"/>
            <a:ext cx="4572000" cy="749808"/>
          </a:xfrm>
          <a:prstGeom prst="roundRect">
            <a:avLst>
              <a:gd name="adj" fmla="val 975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" y="4178808"/>
            <a:ext cx="82296" cy="749808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16" name="Text 14"/>
          <p:cNvSpPr/>
          <p:nvPr/>
        </p:nvSpPr>
        <p:spPr>
          <a:xfrm>
            <a:off x="1005840" y="427024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閉じても残る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005840" y="461772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localStorage に保存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5056632"/>
            <a:ext cx="4572000" cy="749808"/>
          </a:xfrm>
          <a:prstGeom prst="roundRect">
            <a:avLst>
              <a:gd name="adj" fmla="val 975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40080" y="5056632"/>
            <a:ext cx="82296" cy="749808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" y="51480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役割ごとに分ける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005840" y="549554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画面・見た目・動きを読みやすく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577840" y="2331720"/>
            <a:ext cx="5989320" cy="3520440"/>
          </a:xfrm>
          <a:prstGeom prst="roundRect">
            <a:avLst>
              <a:gd name="adj" fmla="val 2078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577840" y="2331720"/>
            <a:ext cx="5989320" cy="384048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24" name="Shape 22"/>
          <p:cNvSpPr/>
          <p:nvPr/>
        </p:nvSpPr>
        <p:spPr>
          <a:xfrm>
            <a:off x="5760720" y="247802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25" name="Shape 23"/>
          <p:cNvSpPr/>
          <p:nvPr/>
        </p:nvSpPr>
        <p:spPr>
          <a:xfrm>
            <a:off x="5961888" y="247802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26" name="Shape 24"/>
          <p:cNvSpPr/>
          <p:nvPr/>
        </p:nvSpPr>
        <p:spPr>
          <a:xfrm>
            <a:off x="6163056" y="247802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27" name="Text 25"/>
          <p:cNvSpPr/>
          <p:nvPr/>
        </p:nvSpPr>
        <p:spPr>
          <a:xfrm>
            <a:off x="6446520" y="2331720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opencode で生成した実物</a:t>
            </a:r>
            <a:endParaRPr lang="en-US" sz="1100" dirty="0"/>
          </a:p>
        </p:txBody>
      </p:sp>
      <p:pic>
        <p:nvPicPr>
          <p:cNvPr id="28" name="Image 0" descr="/Users/ojii3/src/github.com/OJII3/opencode_openrouter_free_example/slides/assets/todo-hands-on-screensh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79008" y="2889504"/>
            <a:ext cx="5577840" cy="2697480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18 / 26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0883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BUILD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0883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このプロンプトを貼る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40080" y="1581912"/>
            <a:ext cx="10908792" cy="4096512"/>
          </a:xfrm>
          <a:prstGeom prst="roundRect">
            <a:avLst>
              <a:gd name="adj" fmla="val 1339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9224" y="1591056"/>
            <a:ext cx="10890504" cy="347472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7" name="Shape 5"/>
          <p:cNvSpPr/>
          <p:nvPr/>
        </p:nvSpPr>
        <p:spPr>
          <a:xfrm>
            <a:off x="804672" y="1705356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8" name="Shape 6"/>
          <p:cNvSpPr/>
          <p:nvPr/>
        </p:nvSpPr>
        <p:spPr>
          <a:xfrm>
            <a:off x="1005840" y="1705356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9" name="Shape 7"/>
          <p:cNvSpPr/>
          <p:nvPr/>
        </p:nvSpPr>
        <p:spPr>
          <a:xfrm>
            <a:off x="1207008" y="1705356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0" name="Text 8"/>
          <p:cNvSpPr/>
          <p:nvPr/>
        </p:nvSpPr>
        <p:spPr>
          <a:xfrm>
            <a:off x="1463040" y="1591056"/>
            <a:ext cx="9811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OpenCode に貼り付ける指示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96112" y="2039112"/>
            <a:ext cx="10451592" cy="3529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6ED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ブラウザで動くミニToDoアプリを作ってください。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 タスクの追加、完了切り替え、削除ができる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 残り件数と完了件数を表示する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 localStorage に保存し、再読み込み後も残る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 初回表示時はサンプルタスクを3件入れる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 スマホでもPCでも見やすいカード風の見た目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F0883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実装条件: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 HTML / CSS / JavaScript を役割ごとに分ける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 作ったファイルと確認手順を最後に教える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F0883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確認すること: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 追加・完了切り替え・削除・再読み込み後の保存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python3 -m http.server 8000 で起動して確認し、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問題があれば修正してください。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5760720"/>
            <a:ext cx="10908792" cy="411480"/>
          </a:xfrm>
          <a:prstGeom prst="roundRect">
            <a:avLst>
              <a:gd name="adj" fmla="val 17778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0080" y="5760720"/>
            <a:ext cx="82296" cy="41148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14" name="Text 12"/>
          <p:cNvSpPr/>
          <p:nvPr/>
        </p:nvSpPr>
        <p:spPr>
          <a:xfrm>
            <a:off x="1005840" y="5760720"/>
            <a:ext cx="10268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ポイント：</a:t>
            </a:r>
            <a:pPr algn="l"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完成条件まで書くと無料モデルでも安定。役割と成功条件を渡す。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19 / 26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0883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BUILD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0883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ブラウザで動かしてみる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生成された index.html をブラウザで開いて、実際に操作します。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606040"/>
            <a:ext cx="5212080" cy="1783080"/>
          </a:xfrm>
          <a:prstGeom prst="roundRect">
            <a:avLst>
              <a:gd name="adj" fmla="val 3077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9224" y="2615184"/>
            <a:ext cx="5193792" cy="347472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8" name="Shape 6"/>
          <p:cNvSpPr/>
          <p:nvPr/>
        </p:nvSpPr>
        <p:spPr>
          <a:xfrm>
            <a:off x="804672" y="272948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9" name="Shape 7"/>
          <p:cNvSpPr/>
          <p:nvPr/>
        </p:nvSpPr>
        <p:spPr>
          <a:xfrm>
            <a:off x="1005840" y="272948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10" name="Shape 8"/>
          <p:cNvSpPr/>
          <p:nvPr/>
        </p:nvSpPr>
        <p:spPr>
          <a:xfrm>
            <a:off x="1207008" y="272948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1" name="Text 9"/>
          <p:cNvSpPr/>
          <p:nvPr/>
        </p:nvSpPr>
        <p:spPr>
          <a:xfrm>
            <a:off x="1463040" y="2615184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ローカルサーバーを起動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96112" y="3063240"/>
            <a:ext cx="475488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プロジェクトのフォルダで</a:t>
            </a:r>
            <a:endParaRPr lang="en-US" sz="13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python3 -m http.server</a:t>
            </a:r>
            <a:endParaRPr lang="en-US" sz="13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endParaRPr lang="en-US" sz="13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ブラウザで開く</a:t>
            </a:r>
            <a:endParaRPr lang="en-US" sz="13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→ http://localhost:8000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4526280"/>
            <a:ext cx="5212080" cy="1325880"/>
          </a:xfrm>
          <a:prstGeom prst="roundRect">
            <a:avLst>
              <a:gd name="adj" fmla="val 5517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4526280"/>
            <a:ext cx="82296" cy="132588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4526280"/>
            <a:ext cx="4663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3FB95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エージェントに頼んでもOK：</a:t>
            </a:r>
            <a:endParaRPr lang="en-US" sz="13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「このフォルダをブラウザで開いて確認して」と言えば、確認まで任せられます。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63640" y="1920240"/>
            <a:ext cx="5257800" cy="3931920"/>
          </a:xfrm>
          <a:prstGeom prst="roundRect">
            <a:avLst>
              <a:gd name="adj" fmla="val 1860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72784" y="1929384"/>
            <a:ext cx="5239512" cy="384048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18" name="Shape 16"/>
          <p:cNvSpPr/>
          <p:nvPr/>
        </p:nvSpPr>
        <p:spPr>
          <a:xfrm>
            <a:off x="6446520" y="206654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19" name="Shape 17"/>
          <p:cNvSpPr/>
          <p:nvPr/>
        </p:nvSpPr>
        <p:spPr>
          <a:xfrm>
            <a:off x="6647688" y="206654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20" name="Shape 18"/>
          <p:cNvSpPr/>
          <p:nvPr/>
        </p:nvSpPr>
        <p:spPr>
          <a:xfrm>
            <a:off x="6848856" y="206654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21" name="Text 19"/>
          <p:cNvSpPr/>
          <p:nvPr/>
        </p:nvSpPr>
        <p:spPr>
          <a:xfrm>
            <a:off x="7132320" y="1929384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My ToDo  ·  localhost:8000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629400" y="2633472"/>
            <a:ext cx="3337560" cy="502920"/>
          </a:xfrm>
          <a:prstGeom prst="roundRect">
            <a:avLst>
              <a:gd name="adj" fmla="val 9091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633472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牛乳を買う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10149840" y="2633472"/>
            <a:ext cx="1005840" cy="502920"/>
          </a:xfrm>
          <a:prstGeom prst="roundRect">
            <a:avLst>
              <a:gd name="adj" fmla="val 9091"/>
            </a:avLst>
          </a:prstGeom>
          <a:solidFill>
            <a:srgbClr val="3FB950"/>
          </a:solidFill>
          <a:ln/>
        </p:spPr>
      </p:sp>
      <p:sp>
        <p:nvSpPr>
          <p:cNvPr id="25" name="Text 23"/>
          <p:cNvSpPr/>
          <p:nvPr/>
        </p:nvSpPr>
        <p:spPr>
          <a:xfrm>
            <a:off x="10149840" y="26334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追加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629400" y="3364992"/>
            <a:ext cx="4526280" cy="566928"/>
          </a:xfrm>
          <a:prstGeom prst="roundRect">
            <a:avLst>
              <a:gd name="adj" fmla="val 6452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12280" y="3511296"/>
            <a:ext cx="274320" cy="27432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28" name="Text 26"/>
          <p:cNvSpPr/>
          <p:nvPr/>
        </p:nvSpPr>
        <p:spPr>
          <a:xfrm>
            <a:off x="6812280" y="35112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✓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223760" y="3364992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strike="sngStrike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レポートを書く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0835640" y="3364992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×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6629400" y="4114800"/>
            <a:ext cx="4526280" cy="566928"/>
          </a:xfrm>
          <a:prstGeom prst="roundRect">
            <a:avLst>
              <a:gd name="adj" fmla="val 6452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812280" y="4261104"/>
            <a:ext cx="274320" cy="274320"/>
          </a:xfrm>
          <a:prstGeom prst="ellipse">
            <a:avLst/>
          </a:prstGeom>
          <a:solidFill>
            <a:srgbClr val="161B22"/>
          </a:solidFill>
          <a:ln w="19050">
            <a:solidFill>
              <a:srgbClr val="8B949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23760" y="4114800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牛乳を買う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10835640" y="411480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×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6629400" y="4864608"/>
            <a:ext cx="4526280" cy="566928"/>
          </a:xfrm>
          <a:prstGeom prst="roundRect">
            <a:avLst>
              <a:gd name="adj" fmla="val 6452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812280" y="5010912"/>
            <a:ext cx="274320" cy="274320"/>
          </a:xfrm>
          <a:prstGeom prst="ellipse">
            <a:avLst/>
          </a:prstGeom>
          <a:solidFill>
            <a:srgbClr val="161B22"/>
          </a:solidFill>
          <a:ln w="19050">
            <a:solidFill>
              <a:srgbClr val="8B949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223760" y="4864608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本を返す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10835640" y="4864608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×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20 / 26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0883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BUILD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0883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エージェントへの指示ファイル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プロジェクトに“指示ファイル”を置くと、前提やルールを毎回伝えられます。</a:t>
            </a:r>
            <a:endParaRPr lang="en-US" sz="16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423160"/>
          <a:ext cx="585216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74320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0D1117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ツール</a:t>
                      </a:r>
                      <a:endParaRPr lang="en-US" sz="150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7315200" marR="0" marT="0" marB="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83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0D1117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指示ファイル</a:t>
                      </a:r>
                      <a:endParaRPr lang="en-US" sz="150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7315200" marR="0" marT="0" marB="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83E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6EDF3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OpenCode</a:t>
                      </a:r>
                      <a:endParaRPr lang="en-US" sz="150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7315200" marR="0" marT="0" marB="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FB950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AGENTS.md</a:t>
                      </a:r>
                      <a:endParaRPr lang="en-US" sz="150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7315200" marR="0" marT="0" marB="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6EDF3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Codex CLI</a:t>
                      </a:r>
                      <a:endParaRPr lang="en-US" sz="150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7315200" marR="0" marT="0" marB="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1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FB950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AGENTS.md</a:t>
                      </a:r>
                      <a:endParaRPr lang="en-US" sz="150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7315200" marR="0" marT="0" marB="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12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6EDF3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Claude Code</a:t>
                      </a:r>
                      <a:endParaRPr lang="en-US" sz="150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7315200" marR="0" marT="0" marB="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FB950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CLAUDE.md</a:t>
                      </a:r>
                      <a:endParaRPr lang="en-US" sz="150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7315200" marR="0" marT="0" marB="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0080" y="507492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名前は違っても“前提を1度書いておく”という考え方は共通です。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766560" y="2423160"/>
            <a:ext cx="4754880" cy="2194560"/>
          </a:xfrm>
          <a:prstGeom prst="roundRect">
            <a:avLst>
              <a:gd name="adj" fmla="val 2500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775704" y="2432304"/>
            <a:ext cx="4736592" cy="347472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10" name="Shape 7"/>
          <p:cNvSpPr/>
          <p:nvPr/>
        </p:nvSpPr>
        <p:spPr>
          <a:xfrm>
            <a:off x="6931152" y="254660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11" name="Shape 8"/>
          <p:cNvSpPr/>
          <p:nvPr/>
        </p:nvSpPr>
        <p:spPr>
          <a:xfrm>
            <a:off x="7132320" y="254660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12" name="Shape 9"/>
          <p:cNvSpPr/>
          <p:nvPr/>
        </p:nvSpPr>
        <p:spPr>
          <a:xfrm>
            <a:off x="7333488" y="254660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3" name="Text 10"/>
          <p:cNvSpPr/>
          <p:nvPr/>
        </p:nvSpPr>
        <p:spPr>
          <a:xfrm>
            <a:off x="7589520" y="2432304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書き方の例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7022592" y="2880360"/>
            <a:ext cx="429768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AGENTS.md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C8C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## ルール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 返答は日本語で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 小さく動くものから作る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 まずブラウザで動作確認する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766560" y="4800600"/>
            <a:ext cx="4754880" cy="914400"/>
          </a:xfrm>
          <a:prstGeom prst="roundRect">
            <a:avLst>
              <a:gd name="adj" fmla="val 8000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766560" y="4800600"/>
            <a:ext cx="82296" cy="91440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17" name="Text 14"/>
          <p:cNvSpPr/>
          <p:nvPr/>
        </p:nvSpPr>
        <p:spPr>
          <a:xfrm>
            <a:off x="7132320" y="48006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毎回同じ指示を書かずに済み、チームで前提もそろえられる。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21 / 26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0883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BUILD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0883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無料枠の上限に注意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未課金アカウントの無料モデルには、OpenRouter の利用上限があります。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248156" y="2560320"/>
            <a:ext cx="4572000" cy="2194560"/>
          </a:xfrm>
          <a:prstGeom prst="roundRect">
            <a:avLst>
              <a:gd name="adj" fmla="val 3333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248156" y="2560320"/>
            <a:ext cx="4572000" cy="9144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8" name="Text 6"/>
          <p:cNvSpPr/>
          <p:nvPr/>
        </p:nvSpPr>
        <p:spPr>
          <a:xfrm>
            <a:off x="1248156" y="292608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3FB95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50</a:t>
            </a:r>
            <a:endParaRPr lang="en-US" sz="7200" dirty="0"/>
          </a:p>
        </p:txBody>
      </p:sp>
      <p:sp>
        <p:nvSpPr>
          <p:cNvPr id="9" name="Text 7"/>
          <p:cNvSpPr/>
          <p:nvPr/>
        </p:nvSpPr>
        <p:spPr>
          <a:xfrm>
            <a:off x="1248156" y="40690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リクエスト / 日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368796" y="2560320"/>
            <a:ext cx="4572000" cy="2194560"/>
          </a:xfrm>
          <a:prstGeom prst="roundRect">
            <a:avLst>
              <a:gd name="adj" fmla="val 3333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368796" y="2560320"/>
            <a:ext cx="4572000" cy="91440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12" name="Text 10"/>
          <p:cNvSpPr/>
          <p:nvPr/>
        </p:nvSpPr>
        <p:spPr>
          <a:xfrm>
            <a:off x="6368796" y="292608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58A6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20</a:t>
            </a:r>
            <a:endParaRPr lang="en-US" sz="7200" dirty="0"/>
          </a:p>
        </p:txBody>
      </p:sp>
      <p:sp>
        <p:nvSpPr>
          <p:cNvPr id="13" name="Text 11"/>
          <p:cNvSpPr/>
          <p:nvPr/>
        </p:nvSpPr>
        <p:spPr>
          <a:xfrm>
            <a:off x="6368796" y="40690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リクエスト / 分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40080" y="507492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上限に当たったら、少し時間をおいてから再開しましょう。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22 / 26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WRAP UP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今日できたこと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10908792" cy="841248"/>
          </a:xfrm>
          <a:prstGeom prst="roundRect">
            <a:avLst>
              <a:gd name="adj" fmla="val 869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249424"/>
            <a:ext cx="457200" cy="45720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2494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✓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91640" y="2057400"/>
            <a:ext cx="95371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コーディングエージェントが何か理解した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40080" y="3063240"/>
            <a:ext cx="10908792" cy="841248"/>
          </a:xfrm>
          <a:prstGeom prst="roundRect">
            <a:avLst>
              <a:gd name="adj" fmla="val 869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60120" y="3255264"/>
            <a:ext cx="457200" cy="45720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32552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✓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691640" y="3063240"/>
            <a:ext cx="95371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OpenCode を自分のPCにインストールした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40080" y="4069080"/>
            <a:ext cx="10908792" cy="841248"/>
          </a:xfrm>
          <a:prstGeom prst="roundRect">
            <a:avLst>
              <a:gd name="adj" fmla="val 869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960120" y="4261104"/>
            <a:ext cx="457200" cy="45720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5" name="Text 13"/>
          <p:cNvSpPr/>
          <p:nvPr/>
        </p:nvSpPr>
        <p:spPr>
          <a:xfrm>
            <a:off x="960120" y="42611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✓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691640" y="4069080"/>
            <a:ext cx="95371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OpenRouter の無料モデルに接続した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640080" y="5074920"/>
            <a:ext cx="10908792" cy="841248"/>
          </a:xfrm>
          <a:prstGeom prst="roundRect">
            <a:avLst>
              <a:gd name="adj" fmla="val 869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960120" y="5266944"/>
            <a:ext cx="457200" cy="45720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9" name="Text 17"/>
          <p:cNvSpPr/>
          <p:nvPr/>
        </p:nvSpPr>
        <p:spPr>
          <a:xfrm>
            <a:off x="960120" y="52669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✓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691640" y="5074920"/>
            <a:ext cx="95371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ToDo ミニアプリを作らせて確認した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23 / 26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WRAP UP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もっと先へ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今日おぼえた “頼み方” と “指示ファイル” は、どのエージェントでもそのまま使えます。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377440"/>
            <a:ext cx="5303520" cy="1508760"/>
          </a:xfrm>
          <a:prstGeom prst="roundRect">
            <a:avLst>
              <a:gd name="adj" fmla="val 484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377440"/>
            <a:ext cx="82296" cy="1508760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261518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58A6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他のエージェントを試す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" y="3090672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Claude Code・Codex CLI など。今日の知識がそのまま活きる。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45352" y="2377440"/>
            <a:ext cx="5303520" cy="1508760"/>
          </a:xfrm>
          <a:prstGeom prst="roundRect">
            <a:avLst>
              <a:gd name="adj" fmla="val 484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45352" y="2377440"/>
            <a:ext cx="82296" cy="150876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12" name="Text 10"/>
          <p:cNvSpPr/>
          <p:nvPr/>
        </p:nvSpPr>
        <p:spPr>
          <a:xfrm>
            <a:off x="6611112" y="261518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0883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高性能モデルで本格開発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611112" y="3090672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有料モデルにすると精度・速度がぐっと上がる。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4087368"/>
            <a:ext cx="5303520" cy="1508760"/>
          </a:xfrm>
          <a:prstGeom prst="roundRect">
            <a:avLst>
              <a:gd name="adj" fmla="val 484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" y="4087368"/>
            <a:ext cx="82296" cy="1508760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16" name="Text 14"/>
          <p:cNvSpPr/>
          <p:nvPr/>
        </p:nvSpPr>
        <p:spPr>
          <a:xfrm>
            <a:off x="1005840" y="432511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BC8C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Webアプリに挑戦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005840" y="480060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Node を入れて Vite などで本格的なアプリへ。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245352" y="4087368"/>
            <a:ext cx="5303520" cy="1508760"/>
          </a:xfrm>
          <a:prstGeom prst="roundRect">
            <a:avLst>
              <a:gd name="adj" fmla="val 484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45352" y="4087368"/>
            <a:ext cx="82296" cy="150876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20" name="Text 18"/>
          <p:cNvSpPr/>
          <p:nvPr/>
        </p:nvSpPr>
        <p:spPr>
          <a:xfrm>
            <a:off x="6611112" y="432511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3FB95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ふだんの作業に使う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611112" y="480060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調べもの・修正・自動化など、研究や開発の相棒に。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24 / 26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WRAP UP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参考リンク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10908792" cy="868680"/>
          </a:xfrm>
          <a:prstGeom prst="roundRect">
            <a:avLst>
              <a:gd name="adj" fmla="val 842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011680"/>
            <a:ext cx="82296" cy="86868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201168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OpenCode（今日のツール）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0" y="2011680"/>
            <a:ext cx="5788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opencode.ai/docs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026664"/>
            <a:ext cx="10908792" cy="868680"/>
          </a:xfrm>
          <a:prstGeom prst="roundRect">
            <a:avLst>
              <a:gd name="adj" fmla="val 842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3026664"/>
            <a:ext cx="82296" cy="868680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3026664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OpenRouter API キー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486400" y="3026664"/>
            <a:ext cx="5788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openrouter.ai/keys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4041648"/>
            <a:ext cx="10908792" cy="868680"/>
          </a:xfrm>
          <a:prstGeom prst="roundRect">
            <a:avLst>
              <a:gd name="adj" fmla="val 842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4041648"/>
            <a:ext cx="82296" cy="86868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4041648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Claude Code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486400" y="4041648"/>
            <a:ext cx="5788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0883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claude.com/claude-code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0080" y="5056632"/>
            <a:ext cx="10908792" cy="868680"/>
          </a:xfrm>
          <a:prstGeom prst="roundRect">
            <a:avLst>
              <a:gd name="adj" fmla="val 842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5056632"/>
            <a:ext cx="82296" cy="868680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" y="5056632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Codex CLI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486400" y="5056632"/>
            <a:ext cx="5788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BC8C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github.com/openai/codex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25 / 26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0" y="27432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000" dirty="0">
                <a:solidFill>
                  <a:srgbClr val="21262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_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21031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400" kern="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THANK YOU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26060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おつかれさまでした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640080" y="3840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今日の続きは、あなたのPCの中で。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40080" y="4663440"/>
            <a:ext cx="5943600" cy="1280160"/>
          </a:xfrm>
          <a:prstGeom prst="roundRect">
            <a:avLst>
              <a:gd name="adj" fmla="val 4286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9224" y="4672584"/>
            <a:ext cx="5925312" cy="347472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8" name="Shape 6"/>
          <p:cNvSpPr/>
          <p:nvPr/>
        </p:nvSpPr>
        <p:spPr>
          <a:xfrm>
            <a:off x="804672" y="478688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9" name="Shape 7"/>
          <p:cNvSpPr/>
          <p:nvPr/>
        </p:nvSpPr>
        <p:spPr>
          <a:xfrm>
            <a:off x="1005840" y="478688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10" name="Shape 8"/>
          <p:cNvSpPr/>
          <p:nvPr/>
        </p:nvSpPr>
        <p:spPr>
          <a:xfrm>
            <a:off x="1207008" y="478688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1" name="Text 9"/>
          <p:cNvSpPr/>
          <p:nvPr/>
        </p:nvSpPr>
        <p:spPr>
          <a:xfrm>
            <a:off x="1463040" y="4672584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Happy hacking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96112" y="5120640"/>
            <a:ext cx="5486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opencode</a:t>
            </a:r>
            <a:endParaRPr lang="en-US" sz="14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 次は何を作ろうか？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  ·  OpenCode × OpenRouter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26 / 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コーディングエージェント入門</dc:title>
  <dc:subject>PptxGenJS Presentation</dc:subject>
  <dc:creator>OJII3</dc:creator>
  <cp:lastModifiedBy>OJII3</cp:lastModifiedBy>
  <cp:revision>1</cp:revision>
  <dcterms:created xsi:type="dcterms:W3CDTF">2026-06-01T04:09:28Z</dcterms:created>
  <dcterms:modified xsi:type="dcterms:W3CDTF">2026-06-01T04:09:28Z</dcterms:modified>
</cp:coreProperties>
</file>